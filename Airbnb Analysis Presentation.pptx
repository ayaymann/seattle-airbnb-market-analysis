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R1C2wSlgohKzmaG55QPZqt0vm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9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" name="Google Shape;436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Picture">
  <p:cSld name="Title with Pictur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3"/>
          <p:cNvSpPr txBox="1"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3"/>
          <p:cNvSpPr>
            <a:spLocks noGrp="1"/>
          </p:cNvSpPr>
          <p:nvPr>
            <p:ph type="pic" idx="2"/>
          </p:nvPr>
        </p:nvSpPr>
        <p:spPr>
          <a:xfrm>
            <a:off x="0" y="-1"/>
            <a:ext cx="12192000" cy="4784036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3"/>
          <p:cNvSpPr txBox="1">
            <a:spLocks noGrp="1"/>
          </p:cNvSpPr>
          <p:nvPr>
            <p:ph type="ftr" idx="11"/>
          </p:nvPr>
        </p:nvSpPr>
        <p:spPr>
          <a:xfrm>
            <a:off x="6205927" y="4939715"/>
            <a:ext cx="4420031" cy="479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11762792" y="4939257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3"/>
          <p:cNvSpPr/>
          <p:nvPr/>
        </p:nvSpPr>
        <p:spPr>
          <a:xfrm>
            <a:off x="11103035" y="5873424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ftr" idx="11"/>
          </p:nvPr>
        </p:nvSpPr>
        <p:spPr>
          <a:xfrm>
            <a:off x="542375" y="11036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dt" idx="10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sldNum" idx="12"/>
          </p:nvPr>
        </p:nvSpPr>
        <p:spPr>
          <a:xfrm>
            <a:off x="11123959" y="104649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body" idx="1"/>
          </p:nvPr>
        </p:nvSpPr>
        <p:spPr>
          <a:xfrm>
            <a:off x="539496" y="2115542"/>
            <a:ext cx="11013670" cy="445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Picture 2">
  <p:cSld name="Title with Picture 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/>
          <p:nvPr/>
        </p:nvSpPr>
        <p:spPr>
          <a:xfrm>
            <a:off x="11103035" y="5873424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ftr" idx="11"/>
          </p:nvPr>
        </p:nvSpPr>
        <p:spPr>
          <a:xfrm>
            <a:off x="14501" y="11036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dt" idx="10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sldNum" idx="12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/>
          <p:nvPr/>
        </p:nvSpPr>
        <p:spPr>
          <a:xfrm>
            <a:off x="11377355" y="83125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1"/>
          </p:nvPr>
        </p:nvSpPr>
        <p:spPr>
          <a:xfrm>
            <a:off x="-1" y="1896472"/>
            <a:ext cx="8139660" cy="355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1pPr>
            <a:lvl2pPr marL="914400" lvl="1" indent="-3175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2pPr>
            <a:lvl3pPr marL="1371600" lvl="2" indent="-3175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3pPr>
            <a:lvl4pPr marL="1828800" lvl="3" indent="-3175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4pPr>
            <a:lvl5pPr marL="2286000" lvl="4" indent="-3175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 cap="flat" cmpd="sng">
            <a:solidFill>
              <a:srgbClr val="464E5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8"/>
          <p:cNvSpPr txBox="1">
            <a:spLocks noGrp="1"/>
          </p:cNvSpPr>
          <p:nvPr>
            <p:ph type="sldNum" idx="12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ith Picture">
  <p:cSld name="Agenda with Pictur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>
            <a:spLocks noGrp="1"/>
          </p:cNvSpPr>
          <p:nvPr>
            <p:ph type="pic" idx="2"/>
          </p:nvPr>
        </p:nvSpPr>
        <p:spPr>
          <a:xfrm>
            <a:off x="0" y="0"/>
            <a:ext cx="590664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6190488" y="110364"/>
            <a:ext cx="53492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11762793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1"/>
          </p:nvPr>
        </p:nvSpPr>
        <p:spPr>
          <a:xfrm>
            <a:off x="6190488" y="2740228"/>
            <a:ext cx="5906642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3175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1pPr>
            <a:lvl2pPr marL="914400" lvl="1" indent="-3175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2pPr>
            <a:lvl3pPr marL="1371600" lvl="2" indent="-3175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3pPr>
            <a:lvl4pPr marL="1828800" lvl="3" indent="-3175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4pPr>
            <a:lvl5pPr marL="2286000" lvl="4" indent="-3175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2">
  <p:cSld name="Content 2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532150" y="100701"/>
            <a:ext cx="53664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dt" idx="10"/>
          </p:nvPr>
        </p:nvSpPr>
        <p:spPr>
          <a:xfrm>
            <a:off x="6190488" y="100701"/>
            <a:ext cx="2940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0"/>
          <p:cNvSpPr txBox="1">
            <a:spLocks noGrp="1"/>
          </p:cNvSpPr>
          <p:nvPr>
            <p:ph type="sldNum" idx="12"/>
          </p:nvPr>
        </p:nvSpPr>
        <p:spPr>
          <a:xfrm>
            <a:off x="11105731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30"/>
          <p:cNvSpPr txBox="1">
            <a:spLocks noGrp="1"/>
          </p:cNvSpPr>
          <p:nvPr>
            <p:ph type="body" idx="1"/>
          </p:nvPr>
        </p:nvSpPr>
        <p:spPr>
          <a:xfrm>
            <a:off x="6190488" y="969264"/>
            <a:ext cx="5336753" cy="481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3">
  <p:cSld name="Content 3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 txBox="1"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ftr" idx="11"/>
          </p:nvPr>
        </p:nvSpPr>
        <p:spPr>
          <a:xfrm>
            <a:off x="532150" y="100701"/>
            <a:ext cx="34702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dt" idx="10"/>
          </p:nvPr>
        </p:nvSpPr>
        <p:spPr>
          <a:xfrm>
            <a:off x="4317167" y="100701"/>
            <a:ext cx="29404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11105731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1"/>
          </p:nvPr>
        </p:nvSpPr>
        <p:spPr>
          <a:xfrm>
            <a:off x="4317167" y="967689"/>
            <a:ext cx="7217771" cy="523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">
  <p:cSld name="Content with Pictur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2"/>
          <p:cNvSpPr txBox="1"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>
            <a:spLocks noGrp="1"/>
          </p:cNvSpPr>
          <p:nvPr>
            <p:ph type="pic" idx="2"/>
          </p:nvPr>
        </p:nvSpPr>
        <p:spPr>
          <a:xfrm>
            <a:off x="0" y="1"/>
            <a:ext cx="480401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32"/>
          <p:cNvSpPr txBox="1">
            <a:spLocks noGrp="1"/>
          </p:cNvSpPr>
          <p:nvPr>
            <p:ph type="body" idx="1"/>
          </p:nvPr>
        </p:nvSpPr>
        <p:spPr>
          <a:xfrm>
            <a:off x="5104122" y="2457406"/>
            <a:ext cx="6441338" cy="377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5104122" y="6452990"/>
            <a:ext cx="1968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11116252" y="6452989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2">
  <p:cSld name="Content with Picture 2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>
            <a:spLocks noGrp="1"/>
          </p:cNvSpPr>
          <p:nvPr>
            <p:ph type="pic" idx="2"/>
          </p:nvPr>
        </p:nvSpPr>
        <p:spPr>
          <a:xfrm>
            <a:off x="0" y="1"/>
            <a:ext cx="402336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33"/>
          <p:cNvSpPr txBox="1">
            <a:spLocks noGrp="1"/>
          </p:cNvSpPr>
          <p:nvPr>
            <p:ph type="body" idx="1"/>
          </p:nvPr>
        </p:nvSpPr>
        <p:spPr>
          <a:xfrm>
            <a:off x="4309088" y="2115404"/>
            <a:ext cx="7225415" cy="421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4281793" y="6492875"/>
            <a:ext cx="1968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dt" idx="10"/>
          </p:nvPr>
        </p:nvSpPr>
        <p:spPr>
          <a:xfrm>
            <a:off x="9023903" y="6492875"/>
            <a:ext cx="1596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sldNum" idx="12"/>
          </p:nvPr>
        </p:nvSpPr>
        <p:spPr>
          <a:xfrm>
            <a:off x="11105296" y="649287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3">
  <p:cSld name="Content with Picture 3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4"/>
          <p:cNvSpPr txBox="1"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body" idx="1"/>
          </p:nvPr>
        </p:nvSpPr>
        <p:spPr>
          <a:xfrm>
            <a:off x="569602" y="2115404"/>
            <a:ext cx="7225415" cy="421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>
            <a:spLocks noGrp="1"/>
          </p:cNvSpPr>
          <p:nvPr>
            <p:ph type="pic" idx="2"/>
          </p:nvPr>
        </p:nvSpPr>
        <p:spPr>
          <a:xfrm>
            <a:off x="8168640" y="1"/>
            <a:ext cx="402336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34"/>
          <p:cNvSpPr txBox="1">
            <a:spLocks noGrp="1"/>
          </p:cNvSpPr>
          <p:nvPr>
            <p:ph type="ftr" idx="11"/>
          </p:nvPr>
        </p:nvSpPr>
        <p:spPr>
          <a:xfrm>
            <a:off x="542307" y="6492875"/>
            <a:ext cx="1968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dt" idx="10"/>
          </p:nvPr>
        </p:nvSpPr>
        <p:spPr>
          <a:xfrm>
            <a:off x="5284417" y="6492875"/>
            <a:ext cx="1596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sldNum" idx="12"/>
          </p:nvPr>
        </p:nvSpPr>
        <p:spPr>
          <a:xfrm>
            <a:off x="7365810" y="649287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4">
  <p:cSld name="Content with Picture 4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5"/>
          <p:cNvSpPr txBox="1"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5"/>
          <p:cNvSpPr txBox="1">
            <a:spLocks noGrp="1"/>
          </p:cNvSpPr>
          <p:nvPr>
            <p:ph type="body" idx="1"/>
          </p:nvPr>
        </p:nvSpPr>
        <p:spPr>
          <a:xfrm>
            <a:off x="518616" y="2513110"/>
            <a:ext cx="5326683" cy="3568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5"/>
          <p:cNvSpPr>
            <a:spLocks noGrp="1"/>
          </p:cNvSpPr>
          <p:nvPr>
            <p:ph type="pic" idx="2"/>
          </p:nvPr>
        </p:nvSpPr>
        <p:spPr>
          <a:xfrm>
            <a:off x="6308842" y="0"/>
            <a:ext cx="588315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35"/>
          <p:cNvSpPr txBox="1">
            <a:spLocks noGrp="1"/>
          </p:cNvSpPr>
          <p:nvPr>
            <p:ph type="ftr" idx="11"/>
          </p:nvPr>
        </p:nvSpPr>
        <p:spPr>
          <a:xfrm>
            <a:off x="518615" y="6450237"/>
            <a:ext cx="1968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5"/>
          <p:cNvSpPr txBox="1">
            <a:spLocks noGrp="1"/>
          </p:cNvSpPr>
          <p:nvPr>
            <p:ph type="sldNum" idx="12"/>
          </p:nvPr>
        </p:nvSpPr>
        <p:spPr>
          <a:xfrm>
            <a:off x="5453953" y="6464979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5">
  <p:cSld name="Content with Picture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6"/>
          <p:cNvSpPr txBox="1"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6"/>
          <p:cNvSpPr txBox="1">
            <a:spLocks noGrp="1"/>
          </p:cNvSpPr>
          <p:nvPr>
            <p:ph type="body" idx="1"/>
          </p:nvPr>
        </p:nvSpPr>
        <p:spPr>
          <a:xfrm>
            <a:off x="543940" y="2890729"/>
            <a:ext cx="4449227" cy="313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6"/>
          <p:cNvSpPr>
            <a:spLocks noGrp="1"/>
          </p:cNvSpPr>
          <p:nvPr>
            <p:ph type="pic" idx="2"/>
          </p:nvPr>
        </p:nvSpPr>
        <p:spPr>
          <a:xfrm>
            <a:off x="5363570" y="0"/>
            <a:ext cx="682843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36"/>
          <p:cNvSpPr txBox="1">
            <a:spLocks noGrp="1"/>
          </p:cNvSpPr>
          <p:nvPr>
            <p:ph type="ftr" idx="11"/>
          </p:nvPr>
        </p:nvSpPr>
        <p:spPr>
          <a:xfrm>
            <a:off x="515618" y="6430476"/>
            <a:ext cx="1968375" cy="37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6"/>
          <p:cNvSpPr txBox="1">
            <a:spLocks noGrp="1"/>
          </p:cNvSpPr>
          <p:nvPr>
            <p:ph type="sldNum" idx="12"/>
          </p:nvPr>
        </p:nvSpPr>
        <p:spPr>
          <a:xfrm>
            <a:off x="4563960" y="6430476"/>
            <a:ext cx="429207" cy="37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6">
  <p:cSld name="Content with Picture 6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7"/>
          <p:cNvSpPr txBox="1"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7"/>
          <p:cNvSpPr>
            <a:spLocks noGrp="1"/>
          </p:cNvSpPr>
          <p:nvPr>
            <p:ph type="pic" idx="2"/>
          </p:nvPr>
        </p:nvSpPr>
        <p:spPr>
          <a:xfrm>
            <a:off x="-1" y="0"/>
            <a:ext cx="726060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37"/>
          <p:cNvSpPr txBox="1">
            <a:spLocks noGrp="1"/>
          </p:cNvSpPr>
          <p:nvPr>
            <p:ph type="body" idx="1"/>
          </p:nvPr>
        </p:nvSpPr>
        <p:spPr>
          <a:xfrm>
            <a:off x="7687521" y="3211512"/>
            <a:ext cx="3884547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37"/>
          <p:cNvSpPr txBox="1">
            <a:spLocks noGrp="1"/>
          </p:cNvSpPr>
          <p:nvPr>
            <p:ph type="ftr" idx="11"/>
          </p:nvPr>
        </p:nvSpPr>
        <p:spPr>
          <a:xfrm>
            <a:off x="7649733" y="6456384"/>
            <a:ext cx="1968375" cy="37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7"/>
          <p:cNvSpPr txBox="1">
            <a:spLocks noGrp="1"/>
          </p:cNvSpPr>
          <p:nvPr>
            <p:ph type="sldNum" idx="12"/>
          </p:nvPr>
        </p:nvSpPr>
        <p:spPr>
          <a:xfrm>
            <a:off x="11134152" y="6456385"/>
            <a:ext cx="429207" cy="37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7">
  <p:cSld name="Content with Picture 7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8"/>
          <p:cNvSpPr txBox="1"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8"/>
          <p:cNvSpPr>
            <a:spLocks noGrp="1"/>
          </p:cNvSpPr>
          <p:nvPr>
            <p:ph type="pic" idx="2"/>
          </p:nvPr>
        </p:nvSpPr>
        <p:spPr>
          <a:xfrm>
            <a:off x="-1" y="0"/>
            <a:ext cx="12192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38"/>
          <p:cNvSpPr txBox="1">
            <a:spLocks noGrp="1"/>
          </p:cNvSpPr>
          <p:nvPr>
            <p:ph type="body" idx="1"/>
          </p:nvPr>
        </p:nvSpPr>
        <p:spPr>
          <a:xfrm>
            <a:off x="5268036" y="3579702"/>
            <a:ext cx="6298442" cy="2620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38"/>
          <p:cNvSpPr txBox="1">
            <a:spLocks noGrp="1"/>
          </p:cNvSpPr>
          <p:nvPr>
            <p:ph type="ftr" idx="11"/>
          </p:nvPr>
        </p:nvSpPr>
        <p:spPr>
          <a:xfrm>
            <a:off x="5262666" y="6442872"/>
            <a:ext cx="1968375" cy="37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8"/>
          <p:cNvSpPr txBox="1">
            <a:spLocks noGrp="1"/>
          </p:cNvSpPr>
          <p:nvPr>
            <p:ph type="dt" idx="10"/>
          </p:nvPr>
        </p:nvSpPr>
        <p:spPr>
          <a:xfrm>
            <a:off x="7697040" y="6442872"/>
            <a:ext cx="2295997" cy="37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8"/>
          <p:cNvSpPr txBox="1">
            <a:spLocks noGrp="1"/>
          </p:cNvSpPr>
          <p:nvPr>
            <p:ph type="sldNum" idx="12"/>
          </p:nvPr>
        </p:nvSpPr>
        <p:spPr>
          <a:xfrm>
            <a:off x="11137271" y="6442873"/>
            <a:ext cx="429207" cy="37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8">
  <p:cSld name="Content with Picture 8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9"/>
          <p:cNvSpPr txBox="1"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9"/>
          <p:cNvSpPr>
            <a:spLocks noGrp="1"/>
          </p:cNvSpPr>
          <p:nvPr>
            <p:ph type="pic" idx="2"/>
          </p:nvPr>
        </p:nvSpPr>
        <p:spPr>
          <a:xfrm>
            <a:off x="109181" y="2115403"/>
            <a:ext cx="5786651" cy="4671431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39"/>
          <p:cNvSpPr txBox="1">
            <a:spLocks noGrp="1"/>
          </p:cNvSpPr>
          <p:nvPr>
            <p:ph type="body" idx="1"/>
          </p:nvPr>
        </p:nvSpPr>
        <p:spPr>
          <a:xfrm>
            <a:off x="6190488" y="2115403"/>
            <a:ext cx="5353815" cy="411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39"/>
          <p:cNvSpPr txBox="1">
            <a:spLocks noGrp="1"/>
          </p:cNvSpPr>
          <p:nvPr>
            <p:ph type="ftr" idx="11"/>
          </p:nvPr>
        </p:nvSpPr>
        <p:spPr>
          <a:xfrm>
            <a:off x="6177425" y="6428984"/>
            <a:ext cx="4467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9"/>
          <p:cNvSpPr txBox="1">
            <a:spLocks noGrp="1"/>
          </p:cNvSpPr>
          <p:nvPr>
            <p:ph type="sldNum" idx="12"/>
          </p:nvPr>
        </p:nvSpPr>
        <p:spPr>
          <a:xfrm>
            <a:off x="10926847" y="6421709"/>
            <a:ext cx="6174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9">
  <p:cSld name="Content with Picture 9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0"/>
          <p:cNvSpPr txBox="1"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0"/>
          <p:cNvSpPr>
            <a:spLocks noGrp="1"/>
          </p:cNvSpPr>
          <p:nvPr>
            <p:ph type="pic" idx="2"/>
          </p:nvPr>
        </p:nvSpPr>
        <p:spPr>
          <a:xfrm>
            <a:off x="606740" y="2899954"/>
            <a:ext cx="3610418" cy="3314046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0"/>
          <p:cNvSpPr txBox="1">
            <a:spLocks noGrp="1"/>
          </p:cNvSpPr>
          <p:nvPr>
            <p:ph type="body" idx="1"/>
          </p:nvPr>
        </p:nvSpPr>
        <p:spPr>
          <a:xfrm>
            <a:off x="4402183" y="644000"/>
            <a:ext cx="7183078" cy="5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40"/>
          <p:cNvSpPr txBox="1">
            <a:spLocks noGrp="1"/>
          </p:cNvSpPr>
          <p:nvPr>
            <p:ph type="ftr" idx="11"/>
          </p:nvPr>
        </p:nvSpPr>
        <p:spPr>
          <a:xfrm>
            <a:off x="545926" y="643828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0"/>
          <p:cNvSpPr txBox="1">
            <a:spLocks noGrp="1"/>
          </p:cNvSpPr>
          <p:nvPr>
            <p:ph type="dt" idx="10"/>
          </p:nvPr>
        </p:nvSpPr>
        <p:spPr>
          <a:xfrm>
            <a:off x="6190488" y="6432496"/>
            <a:ext cx="25440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0"/>
          <p:cNvSpPr txBox="1">
            <a:spLocks noGrp="1"/>
          </p:cNvSpPr>
          <p:nvPr>
            <p:ph type="sldNum" idx="12"/>
          </p:nvPr>
        </p:nvSpPr>
        <p:spPr>
          <a:xfrm>
            <a:off x="11099128" y="643828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 Large">
  <p:cSld name="Number Larg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1"/>
          <p:cNvSpPr txBox="1"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1"/>
          <p:cNvSpPr txBox="1">
            <a:spLocks noGrp="1"/>
          </p:cNvSpPr>
          <p:nvPr>
            <p:ph type="body" idx="1"/>
          </p:nvPr>
        </p:nvSpPr>
        <p:spPr>
          <a:xfrm>
            <a:off x="-54591" y="-156950"/>
            <a:ext cx="5957248" cy="451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1"/>
          <p:cNvSpPr/>
          <p:nvPr/>
        </p:nvSpPr>
        <p:spPr>
          <a:xfrm>
            <a:off x="11110101" y="58521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1"/>
          <p:cNvSpPr txBox="1">
            <a:spLocks noGrp="1"/>
          </p:cNvSpPr>
          <p:nvPr>
            <p:ph type="sldNum" idx="12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2"/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2"/>
          <p:cNvSpPr/>
          <p:nvPr/>
        </p:nvSpPr>
        <p:spPr>
          <a:xfrm>
            <a:off x="11096453" y="58521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2"/>
          <p:cNvSpPr txBox="1">
            <a:spLocks noGrp="1"/>
          </p:cNvSpPr>
          <p:nvPr>
            <p:ph type="ftr" idx="11"/>
          </p:nvPr>
        </p:nvSpPr>
        <p:spPr>
          <a:xfrm>
            <a:off x="14501" y="11036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2"/>
          <p:cNvSpPr txBox="1">
            <a:spLocks noGrp="1"/>
          </p:cNvSpPr>
          <p:nvPr>
            <p:ph type="dt" idx="10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2"/>
          <p:cNvSpPr txBox="1">
            <a:spLocks noGrp="1"/>
          </p:cNvSpPr>
          <p:nvPr>
            <p:ph type="sldNum" idx="12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42"/>
          <p:cNvSpPr txBox="1">
            <a:spLocks noGrp="1"/>
          </p:cNvSpPr>
          <p:nvPr>
            <p:ph type="body" idx="1"/>
          </p:nvPr>
        </p:nvSpPr>
        <p:spPr>
          <a:xfrm>
            <a:off x="-17470" y="1016759"/>
            <a:ext cx="10082693" cy="584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0"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0"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0"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0"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3"/>
          <p:cNvSpPr/>
          <p:nvPr/>
        </p:nvSpPr>
        <p:spPr>
          <a:xfrm>
            <a:off x="11083347" y="58521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3"/>
          <p:cNvSpPr txBox="1">
            <a:spLocks noGrp="1"/>
          </p:cNvSpPr>
          <p:nvPr>
            <p:ph type="title"/>
          </p:nvPr>
        </p:nvSpPr>
        <p:spPr>
          <a:xfrm>
            <a:off x="-1" y="5899926"/>
            <a:ext cx="5902657" cy="95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3"/>
          <p:cNvSpPr txBox="1">
            <a:spLocks noGrp="1"/>
          </p:cNvSpPr>
          <p:nvPr>
            <p:ph type="body" idx="1"/>
          </p:nvPr>
        </p:nvSpPr>
        <p:spPr>
          <a:xfrm>
            <a:off x="-18288" y="95534"/>
            <a:ext cx="8961120" cy="447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43"/>
          <p:cNvSpPr txBox="1">
            <a:spLocks noGrp="1"/>
          </p:cNvSpPr>
          <p:nvPr>
            <p:ph type="sldNum" idx="12"/>
          </p:nvPr>
        </p:nvSpPr>
        <p:spPr>
          <a:xfrm>
            <a:off x="11762793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43"/>
          <p:cNvSpPr txBox="1">
            <a:spLocks noGrp="1"/>
          </p:cNvSpPr>
          <p:nvPr>
            <p:ph type="ftr" idx="11"/>
          </p:nvPr>
        </p:nvSpPr>
        <p:spPr>
          <a:xfrm>
            <a:off x="6193030" y="6392564"/>
            <a:ext cx="31048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4"/>
          <p:cNvSpPr txBox="1"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4"/>
          <p:cNvSpPr txBox="1">
            <a:spLocks noGrp="1"/>
          </p:cNvSpPr>
          <p:nvPr>
            <p:ph type="ftr" idx="11"/>
          </p:nvPr>
        </p:nvSpPr>
        <p:spPr>
          <a:xfrm>
            <a:off x="530353" y="110364"/>
            <a:ext cx="3474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dt" idx="10"/>
          </p:nvPr>
        </p:nvSpPr>
        <p:spPr>
          <a:xfrm>
            <a:off x="431596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4"/>
          <p:cNvSpPr txBox="1">
            <a:spLocks noGrp="1"/>
          </p:cNvSpPr>
          <p:nvPr>
            <p:ph type="sldNum" idx="12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44"/>
          <p:cNvSpPr txBox="1">
            <a:spLocks noGrp="1"/>
          </p:cNvSpPr>
          <p:nvPr>
            <p:ph type="body" idx="1"/>
          </p:nvPr>
        </p:nvSpPr>
        <p:spPr>
          <a:xfrm>
            <a:off x="4315966" y="987552"/>
            <a:ext cx="7446825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44"/>
          <p:cNvSpPr txBox="1">
            <a:spLocks noGrp="1"/>
          </p:cNvSpPr>
          <p:nvPr>
            <p:ph type="body" idx="2"/>
          </p:nvPr>
        </p:nvSpPr>
        <p:spPr>
          <a:xfrm>
            <a:off x="4315967" y="3931920"/>
            <a:ext cx="7446824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5"/>
          <p:cNvSpPr txBox="1"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5"/>
          <p:cNvSpPr txBox="1">
            <a:spLocks noGrp="1"/>
          </p:cNvSpPr>
          <p:nvPr>
            <p:ph type="ftr" idx="11"/>
          </p:nvPr>
        </p:nvSpPr>
        <p:spPr>
          <a:xfrm>
            <a:off x="530352" y="11036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5"/>
          <p:cNvSpPr txBox="1">
            <a:spLocks noGrp="1"/>
          </p:cNvSpPr>
          <p:nvPr>
            <p:ph type="dt" idx="10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45"/>
          <p:cNvSpPr txBox="1">
            <a:spLocks noGrp="1"/>
          </p:cNvSpPr>
          <p:nvPr>
            <p:ph type="sldNum" idx="12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45"/>
          <p:cNvSpPr txBox="1"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45"/>
          <p:cNvSpPr txBox="1">
            <a:spLocks noGrp="1"/>
          </p:cNvSpPr>
          <p:nvPr>
            <p:ph type="body" idx="2"/>
          </p:nvPr>
        </p:nvSpPr>
        <p:spPr>
          <a:xfrm>
            <a:off x="530351" y="2980943"/>
            <a:ext cx="5183188" cy="3586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5"/>
          <p:cNvSpPr txBox="1">
            <a:spLocks noGrp="1"/>
          </p:cNvSpPr>
          <p:nvPr>
            <p:ph type="body" idx="3"/>
          </p:nvPr>
        </p:nvSpPr>
        <p:spPr>
          <a:xfrm>
            <a:off x="6190488" y="2286000"/>
            <a:ext cx="5183188" cy="53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45"/>
          <p:cNvSpPr txBox="1">
            <a:spLocks noGrp="1"/>
          </p:cNvSpPr>
          <p:nvPr>
            <p:ph type="body" idx="4"/>
          </p:nvPr>
        </p:nvSpPr>
        <p:spPr>
          <a:xfrm>
            <a:off x="6190488" y="2980944"/>
            <a:ext cx="5183188" cy="358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6"/>
          <p:cNvSpPr txBox="1"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6"/>
          <p:cNvSpPr txBox="1">
            <a:spLocks noGrp="1"/>
          </p:cNvSpPr>
          <p:nvPr>
            <p:ph type="ftr" idx="11"/>
          </p:nvPr>
        </p:nvSpPr>
        <p:spPr>
          <a:xfrm>
            <a:off x="530352" y="109728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6"/>
          <p:cNvSpPr txBox="1">
            <a:spLocks noGrp="1"/>
          </p:cNvSpPr>
          <p:nvPr>
            <p:ph type="dt" idx="10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46"/>
          <p:cNvSpPr txBox="1">
            <a:spLocks noGrp="1"/>
          </p:cNvSpPr>
          <p:nvPr>
            <p:ph type="sldNum" idx="12"/>
          </p:nvPr>
        </p:nvSpPr>
        <p:spPr>
          <a:xfrm>
            <a:off x="11231928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 type="blank">
  <p:cSld name="BLANK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7"/>
          <p:cNvSpPr txBox="1">
            <a:spLocks noGrp="1"/>
          </p:cNvSpPr>
          <p:nvPr>
            <p:ph type="ftr" idx="11"/>
          </p:nvPr>
        </p:nvSpPr>
        <p:spPr>
          <a:xfrm>
            <a:off x="0" y="100701"/>
            <a:ext cx="58986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7"/>
          <p:cNvSpPr txBox="1">
            <a:spLocks noGrp="1"/>
          </p:cNvSpPr>
          <p:nvPr>
            <p:ph type="dt" idx="10"/>
          </p:nvPr>
        </p:nvSpPr>
        <p:spPr>
          <a:xfrm>
            <a:off x="6217920" y="100701"/>
            <a:ext cx="53320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7"/>
          <p:cNvSpPr txBox="1">
            <a:spLocks noGrp="1"/>
          </p:cNvSpPr>
          <p:nvPr>
            <p:ph type="sldNum" idx="12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">
  <p:cSld name="Conclusion">
    <p:bg>
      <p:bgPr>
        <a:solidFill>
          <a:schemeClr val="dk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8"/>
          <p:cNvSpPr txBox="1"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48"/>
          <p:cNvSpPr txBox="1">
            <a:spLocks noGrp="1"/>
          </p:cNvSpPr>
          <p:nvPr>
            <p:ph type="body" idx="1"/>
          </p:nvPr>
        </p:nvSpPr>
        <p:spPr>
          <a:xfrm>
            <a:off x="545926" y="2497540"/>
            <a:ext cx="10982409" cy="338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48"/>
          <p:cNvSpPr txBox="1">
            <a:spLocks noGrp="1"/>
          </p:cNvSpPr>
          <p:nvPr>
            <p:ph type="ftr" idx="11"/>
          </p:nvPr>
        </p:nvSpPr>
        <p:spPr>
          <a:xfrm>
            <a:off x="545926" y="643828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8"/>
          <p:cNvSpPr txBox="1">
            <a:spLocks noGrp="1"/>
          </p:cNvSpPr>
          <p:nvPr>
            <p:ph type="dt" idx="10"/>
          </p:nvPr>
        </p:nvSpPr>
        <p:spPr>
          <a:xfrm>
            <a:off x="6190488" y="6432496"/>
            <a:ext cx="25440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8"/>
          <p:cNvSpPr txBox="1">
            <a:spLocks noGrp="1"/>
          </p:cNvSpPr>
          <p:nvPr>
            <p:ph type="sldNum" idx="12"/>
          </p:nvPr>
        </p:nvSpPr>
        <p:spPr>
          <a:xfrm>
            <a:off x="11099128" y="643828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 2">
  <p:cSld name="Conclusion 2">
    <p:bg>
      <p:bgPr>
        <a:solidFill>
          <a:schemeClr val="dk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9"/>
          <p:cNvSpPr txBox="1"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9"/>
          <p:cNvSpPr txBox="1">
            <a:spLocks noGrp="1"/>
          </p:cNvSpPr>
          <p:nvPr>
            <p:ph type="ftr" idx="11"/>
          </p:nvPr>
        </p:nvSpPr>
        <p:spPr>
          <a:xfrm>
            <a:off x="536906" y="100701"/>
            <a:ext cx="536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49"/>
          <p:cNvSpPr txBox="1">
            <a:spLocks noGrp="1"/>
          </p:cNvSpPr>
          <p:nvPr>
            <p:ph type="dt" idx="10"/>
          </p:nvPr>
        </p:nvSpPr>
        <p:spPr>
          <a:xfrm>
            <a:off x="6217921" y="100701"/>
            <a:ext cx="2526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9"/>
          <p:cNvSpPr txBox="1">
            <a:spLocks noGrp="1"/>
          </p:cNvSpPr>
          <p:nvPr>
            <p:ph type="body" idx="1"/>
          </p:nvPr>
        </p:nvSpPr>
        <p:spPr>
          <a:xfrm>
            <a:off x="536905" y="4922111"/>
            <a:ext cx="7741850" cy="127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49"/>
          <p:cNvSpPr txBox="1">
            <a:spLocks noGrp="1"/>
          </p:cNvSpPr>
          <p:nvPr>
            <p:ph type="sldNum" idx="12"/>
          </p:nvPr>
        </p:nvSpPr>
        <p:spPr>
          <a:xfrm>
            <a:off x="11762793" y="639217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49"/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 cap="flat" cmpd="sng">
            <a:solidFill>
              <a:schemeClr val="l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98824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dt" idx="10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ftr" idx="11"/>
          </p:nvPr>
        </p:nvSpPr>
        <p:spPr>
          <a:xfrm>
            <a:off x="14501" y="11036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sldNum" idx="12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6339"/>
            <a:ext cx="12192000" cy="698433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"/>
          <p:cNvSpPr txBox="1"/>
          <p:nvPr/>
        </p:nvSpPr>
        <p:spPr>
          <a:xfrm>
            <a:off x="2556588" y="134790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AIRBNB DATA ANALYTICS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"/>
          <p:cNvSpPr txBox="1"/>
          <p:nvPr/>
        </p:nvSpPr>
        <p:spPr>
          <a:xfrm>
            <a:off x="2468879" y="1709927"/>
            <a:ext cx="8664341" cy="1130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7F61"/>
              </a:buClr>
              <a:buSzPts val="4400"/>
              <a:buFont typeface="Times New Roman"/>
              <a:buNone/>
            </a:pPr>
            <a:r>
              <a:rPr lang="en-US" sz="4400" b="1" i="0" u="none" strike="noStrike" cap="none">
                <a:solidFill>
                  <a:srgbClr val="9D7F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Turning Data into Decisions</a:t>
            </a:r>
            <a:endParaRPr sz="4400" b="1" i="0" u="none" strike="noStrike" cap="none">
              <a:solidFill>
                <a:srgbClr val="9D7F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"/>
          <p:cNvSpPr txBox="1"/>
          <p:nvPr/>
        </p:nvSpPr>
        <p:spPr>
          <a:xfrm>
            <a:off x="3734272" y="3402433"/>
            <a:ext cx="15418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</a:t>
            </a:r>
            <a:endParaRPr sz="1800" b="1" i="0" u="none" strike="noStrike" cap="none">
              <a:solidFill>
                <a:srgbClr val="A0B4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3820962" y="3681417"/>
            <a:ext cx="8239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Airbnb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"/>
          <p:cNvSpPr txBox="1"/>
          <p:nvPr/>
        </p:nvSpPr>
        <p:spPr>
          <a:xfrm>
            <a:off x="5476525" y="3368183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"/>
          <p:cNvSpPr txBox="1"/>
          <p:nvPr/>
        </p:nvSpPr>
        <p:spPr>
          <a:xfrm>
            <a:off x="5471665" y="3657719"/>
            <a:ext cx="1248670" cy="904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Business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7355323" y="3335455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"/>
          <p:cNvSpPr txBox="1"/>
          <p:nvPr/>
        </p:nvSpPr>
        <p:spPr>
          <a:xfrm>
            <a:off x="7355323" y="3697091"/>
            <a:ext cx="109168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SQL 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PowerBI</a:t>
            </a:r>
            <a:endParaRPr sz="1600" b="0" i="0" u="none" strike="noStrike" cap="none">
              <a:solidFill>
                <a:srgbClr val="FF5A5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"/>
          <p:cNvSpPr txBox="1"/>
          <p:nvPr/>
        </p:nvSpPr>
        <p:spPr>
          <a:xfrm>
            <a:off x="9336522" y="3335455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9336522" y="3697091"/>
            <a:ext cx="1197739" cy="343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"/>
          <p:cNvSpPr txBox="1"/>
          <p:nvPr/>
        </p:nvSpPr>
        <p:spPr>
          <a:xfrm>
            <a:off x="2659224" y="5398692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Divas</a:t>
            </a:r>
            <a:endParaRPr sz="2000" b="1" i="0" u="none" strike="noStrike" cap="none">
              <a:solidFill>
                <a:srgbClr val="A0B4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"/>
          <p:cNvSpPr txBox="1"/>
          <p:nvPr/>
        </p:nvSpPr>
        <p:spPr>
          <a:xfrm>
            <a:off x="2659224" y="5780409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SQL  •  Power BI  •  Data Analytics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05407" y="633496"/>
            <a:ext cx="929421" cy="76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7F61"/>
              </a:buClr>
              <a:buSzPts val="4400"/>
              <a:buFont typeface="Times New Roman"/>
              <a:buNone/>
            </a:pPr>
            <a:r>
              <a:rPr lang="en-US" sz="4400" b="1" i="0" u="none" strike="noStrike" cap="none">
                <a:solidFill>
                  <a:srgbClr val="9D7F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Airbnb at a Glance</a:t>
            </a:r>
            <a:endParaRPr sz="4400" b="1" i="0" u="none" strike="noStrike" cap="none">
              <a:solidFill>
                <a:srgbClr val="9D7F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A0B4A7"/>
                </a:solidFill>
                <a:latin typeface="Calibri"/>
                <a:ea typeface="Calibri"/>
                <a:cs typeface="Calibri"/>
                <a:sym typeface="Calibri"/>
              </a:rPr>
              <a:t>Understanding the business behind the data</a:t>
            </a:r>
            <a:endParaRPr sz="18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548640" y="16916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EFAF4"/>
          </a:solidFill>
          <a:ln w="127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"/>
          <p:cNvSpPr txBox="1"/>
          <p:nvPr/>
        </p:nvSpPr>
        <p:spPr>
          <a:xfrm>
            <a:off x="868680" y="20116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2834640" y="2011680"/>
            <a:ext cx="594360" cy="594360"/>
          </a:xfrm>
          <a:prstGeom prst="ellipse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"/>
          <p:cNvSpPr txBox="1"/>
          <p:nvPr/>
        </p:nvSpPr>
        <p:spPr>
          <a:xfrm>
            <a:off x="2834640" y="2011680"/>
            <a:ext cx="594360" cy="594360"/>
          </a:xfrm>
          <a:prstGeom prst="rect">
            <a:avLst/>
          </a:prstGeom>
          <a:solidFill>
            <a:srgbClr val="FCF2E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◑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"/>
          <p:cNvSpPr txBox="1"/>
          <p:nvPr/>
        </p:nvSpPr>
        <p:spPr>
          <a:xfrm>
            <a:off x="868680" y="283464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96D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rgbClr val="FF69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WHO?</a:t>
            </a:r>
            <a:endParaRPr sz="2800" b="1" i="0" u="none" strike="noStrike" cap="none">
              <a:solidFill>
                <a:srgbClr val="FF696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"/>
          <p:cNvSpPr txBox="1"/>
          <p:nvPr/>
        </p:nvSpPr>
        <p:spPr>
          <a:xfrm>
            <a:off x="868680" y="3383280"/>
            <a:ext cx="26060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is a global platform connecting guests with hosts.</a:t>
            </a:r>
            <a:endParaRPr sz="20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4114800" y="16916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EFAF4"/>
          </a:solidFill>
          <a:ln w="127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4434840" y="2011680"/>
            <a:ext cx="594360" cy="59436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"/>
          <p:cNvSpPr txBox="1"/>
          <p:nvPr/>
        </p:nvSpPr>
        <p:spPr>
          <a:xfrm>
            <a:off x="4434840" y="20116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6400800" y="2011680"/>
            <a:ext cx="594360" cy="594360"/>
          </a:xfrm>
          <a:prstGeom prst="ellipse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"/>
          <p:cNvSpPr txBox="1"/>
          <p:nvPr/>
        </p:nvSpPr>
        <p:spPr>
          <a:xfrm>
            <a:off x="6400800" y="2011680"/>
            <a:ext cx="594360" cy="594360"/>
          </a:xfrm>
          <a:prstGeom prst="rect">
            <a:avLst/>
          </a:prstGeom>
          <a:solidFill>
            <a:srgbClr val="FCF2E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▦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"/>
          <p:cNvSpPr txBox="1"/>
          <p:nvPr/>
        </p:nvSpPr>
        <p:spPr>
          <a:xfrm>
            <a:off x="4434840" y="283464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69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"/>
          <p:cNvSpPr txBox="1"/>
          <p:nvPr/>
        </p:nvSpPr>
        <p:spPr>
          <a:xfrm>
            <a:off x="4434840" y="3383280"/>
            <a:ext cx="26060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Listings across cities, neighborhoods and property types.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"/>
          <p:cNvSpPr/>
          <p:nvPr/>
        </p:nvSpPr>
        <p:spPr>
          <a:xfrm>
            <a:off x="7734300" y="16916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EFAF4"/>
          </a:solidFill>
          <a:ln w="127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8001000" y="2011680"/>
            <a:ext cx="594360" cy="59436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"/>
          <p:cNvSpPr txBox="1"/>
          <p:nvPr/>
        </p:nvSpPr>
        <p:spPr>
          <a:xfrm>
            <a:off x="8001000" y="20116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"/>
          <p:cNvSpPr/>
          <p:nvPr/>
        </p:nvSpPr>
        <p:spPr>
          <a:xfrm>
            <a:off x="9966960" y="2011680"/>
            <a:ext cx="594360" cy="594360"/>
          </a:xfrm>
          <a:prstGeom prst="ellipse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"/>
          <p:cNvSpPr txBox="1"/>
          <p:nvPr/>
        </p:nvSpPr>
        <p:spPr>
          <a:xfrm>
            <a:off x="9966960" y="2011680"/>
            <a:ext cx="594360" cy="594360"/>
          </a:xfrm>
          <a:prstGeom prst="rect">
            <a:avLst/>
          </a:prstGeom>
          <a:solidFill>
            <a:srgbClr val="FCF2E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"/>
          <p:cNvSpPr txBox="1"/>
          <p:nvPr/>
        </p:nvSpPr>
        <p:spPr>
          <a:xfrm>
            <a:off x="8001000" y="283464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96D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rgbClr val="FF69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DATA?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"/>
          <p:cNvSpPr txBox="1"/>
          <p:nvPr/>
        </p:nvSpPr>
        <p:spPr>
          <a:xfrm>
            <a:off x="8001000" y="3383280"/>
            <a:ext cx="26060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Data helps understand pricing, demand and listing performance.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"/>
          <p:cNvSpPr/>
          <p:nvPr/>
        </p:nvSpPr>
        <p:spPr>
          <a:xfrm>
            <a:off x="548640" y="5532120"/>
            <a:ext cx="10378440" cy="868680"/>
          </a:xfrm>
          <a:prstGeom prst="roundRect">
            <a:avLst>
              <a:gd name="adj" fmla="val 12632"/>
            </a:avLst>
          </a:prstGeom>
          <a:solidFill>
            <a:srgbClr val="FCF2E5"/>
          </a:solidFill>
          <a:ln w="127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"/>
          <p:cNvSpPr/>
          <p:nvPr/>
        </p:nvSpPr>
        <p:spPr>
          <a:xfrm>
            <a:off x="805815" y="5871754"/>
            <a:ext cx="91440" cy="9144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"/>
          <p:cNvSpPr txBox="1"/>
          <p:nvPr/>
        </p:nvSpPr>
        <p:spPr>
          <a:xfrm>
            <a:off x="1057275" y="5847448"/>
            <a:ext cx="213741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7F6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D7F61"/>
                </a:solidFill>
                <a:latin typeface="Calibri"/>
                <a:ea typeface="Calibri"/>
                <a:cs typeface="Calibri"/>
                <a:sym typeface="Calibri"/>
              </a:rPr>
              <a:t>Global accommodation marketplace</a:t>
            </a:r>
            <a:endParaRPr sz="1200" b="0" i="0" u="none" strike="noStrike" cap="none">
              <a:solidFill>
                <a:srgbClr val="9D7F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"/>
          <p:cNvSpPr/>
          <p:nvPr/>
        </p:nvSpPr>
        <p:spPr>
          <a:xfrm>
            <a:off x="3280410" y="5871754"/>
            <a:ext cx="91440" cy="9144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"/>
          <p:cNvSpPr txBox="1"/>
          <p:nvPr/>
        </p:nvSpPr>
        <p:spPr>
          <a:xfrm>
            <a:off x="3486150" y="5844602"/>
            <a:ext cx="213741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7F6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D7F61"/>
                </a:solidFill>
                <a:latin typeface="Calibri"/>
                <a:ea typeface="Calibri"/>
                <a:cs typeface="Calibri"/>
                <a:sym typeface="Calibri"/>
              </a:rPr>
              <a:t>Hosts + Guests + Listings</a:t>
            </a:r>
            <a:endParaRPr sz="1200" b="0" i="0" u="none" strike="noStrike" cap="none">
              <a:solidFill>
                <a:srgbClr val="9D7F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"/>
          <p:cNvSpPr/>
          <p:nvPr/>
        </p:nvSpPr>
        <p:spPr>
          <a:xfrm>
            <a:off x="5737860" y="5871754"/>
            <a:ext cx="91440" cy="9144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"/>
          <p:cNvSpPr txBox="1"/>
          <p:nvPr/>
        </p:nvSpPr>
        <p:spPr>
          <a:xfrm>
            <a:off x="5915025" y="5838958"/>
            <a:ext cx="213741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7F6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D7F61"/>
                </a:solidFill>
                <a:latin typeface="Calibri"/>
                <a:ea typeface="Calibri"/>
                <a:cs typeface="Calibri"/>
                <a:sym typeface="Calibri"/>
              </a:rPr>
              <a:t>Large-scale location &amp;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7F6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D7F61"/>
                </a:solidFill>
                <a:latin typeface="Calibri"/>
                <a:ea typeface="Calibri"/>
                <a:cs typeface="Calibri"/>
                <a:sym typeface="Calibri"/>
              </a:rPr>
              <a:t>pricing data</a:t>
            </a:r>
            <a:endParaRPr sz="1200" b="0" i="0" u="none" strike="noStrike" cap="none">
              <a:solidFill>
                <a:srgbClr val="9D7F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"/>
          <p:cNvSpPr/>
          <p:nvPr/>
        </p:nvSpPr>
        <p:spPr>
          <a:xfrm>
            <a:off x="8195310" y="5870775"/>
            <a:ext cx="91440" cy="9144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"/>
          <p:cNvSpPr txBox="1"/>
          <p:nvPr/>
        </p:nvSpPr>
        <p:spPr>
          <a:xfrm>
            <a:off x="8423910" y="5844602"/>
            <a:ext cx="213741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7F6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D7F61"/>
                </a:solidFill>
                <a:latin typeface="Calibri"/>
                <a:ea typeface="Calibri"/>
                <a:cs typeface="Calibri"/>
                <a:sym typeface="Calibri"/>
              </a:rPr>
              <a:t>Data-driven decision making</a:t>
            </a:r>
            <a:endParaRPr sz="1200" b="0" i="0" u="none" strike="noStrike" cap="none">
              <a:solidFill>
                <a:srgbClr val="9D7F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9D7F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Turns Rows into Business Signals</a:t>
            </a:r>
            <a:endParaRPr sz="3600" b="1" i="0" u="none" strike="noStrike" cap="none">
              <a:solidFill>
                <a:srgbClr val="9D7F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370184" y="1602659"/>
            <a:ext cx="2743200" cy="4316360"/>
          </a:xfrm>
          <a:prstGeom prst="roundRect">
            <a:avLst>
              <a:gd name="adj" fmla="val 9375"/>
            </a:avLst>
          </a:prstGeom>
          <a:solidFill>
            <a:srgbClr val="FCF2E5"/>
          </a:solidFill>
          <a:ln w="127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3332644" y="1135020"/>
            <a:ext cx="8013782" cy="1821416"/>
          </a:xfrm>
          <a:prstGeom prst="roundRect">
            <a:avLst>
              <a:gd name="adj" fmla="val 9375"/>
            </a:avLst>
          </a:prstGeom>
          <a:solidFill>
            <a:srgbClr val="FCF2E5"/>
          </a:solidFill>
          <a:ln w="127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3435039" y="3154442"/>
            <a:ext cx="7911387" cy="2764577"/>
          </a:xfrm>
          <a:prstGeom prst="roundRect">
            <a:avLst>
              <a:gd name="adj" fmla="val 9375"/>
            </a:avLst>
          </a:prstGeom>
          <a:solidFill>
            <a:srgbClr val="FCF2E5"/>
          </a:solidFill>
          <a:ln w="127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"/>
          <p:cNvSpPr txBox="1"/>
          <p:nvPr/>
        </p:nvSpPr>
        <p:spPr>
          <a:xfrm>
            <a:off x="438920" y="6488349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"/>
          <p:cNvSpPr txBox="1"/>
          <p:nvPr/>
        </p:nvSpPr>
        <p:spPr>
          <a:xfrm>
            <a:off x="9679515" y="6525654"/>
            <a:ext cx="2327511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666773"/>
            <a:ext cx="2286319" cy="159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396" y="3429000"/>
            <a:ext cx="2325563" cy="2310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7329" y="1203846"/>
            <a:ext cx="7538936" cy="1669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67328" y="3264408"/>
            <a:ext cx="7412475" cy="255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7F61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9D7F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Turns Rows into Business Signals</a:t>
            </a:r>
            <a:endParaRPr sz="3600" b="1" i="0" u="none" strike="noStrike" cap="none">
              <a:solidFill>
                <a:srgbClr val="9D7F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548640" y="1675949"/>
            <a:ext cx="10700939" cy="4316360"/>
          </a:xfrm>
          <a:prstGeom prst="roundRect">
            <a:avLst>
              <a:gd name="adj" fmla="val 9375"/>
            </a:avLst>
          </a:prstGeom>
          <a:solidFill>
            <a:srgbClr val="FCF2E5"/>
          </a:solidFill>
          <a:ln w="127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530180" y="6492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"/>
          <p:cNvSpPr txBox="1"/>
          <p:nvPr/>
        </p:nvSpPr>
        <p:spPr>
          <a:xfrm>
            <a:off x="8335752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687" y="1798701"/>
            <a:ext cx="9927138" cy="393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9D7F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Turns Rows into Business Signals</a:t>
            </a:r>
            <a:endParaRPr sz="3600" b="1" i="0" u="none" strike="noStrike" cap="none">
              <a:solidFill>
                <a:srgbClr val="9D7F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548639" y="1234440"/>
            <a:ext cx="10679799" cy="5074920"/>
          </a:xfrm>
          <a:prstGeom prst="roundRect">
            <a:avLst>
              <a:gd name="adj" fmla="val 1802"/>
            </a:avLst>
          </a:prstGeom>
          <a:solidFill>
            <a:srgbClr val="2B2B2B"/>
          </a:solidFill>
          <a:ln>
            <a:noFill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548640" y="1234440"/>
            <a:ext cx="73152" cy="5074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621792" y="65137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8221636" y="653068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796" y="1438788"/>
            <a:ext cx="9971483" cy="2775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33010" y="4456127"/>
            <a:ext cx="7161522" cy="135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7F61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9D7F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Turns Rows into Business Signals</a:t>
            </a:r>
            <a:endParaRPr sz="3600" b="1" i="0" u="none" strike="noStrike" cap="none">
              <a:solidFill>
                <a:srgbClr val="9D7F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48639" y="1234440"/>
            <a:ext cx="10679799" cy="5074920"/>
          </a:xfrm>
          <a:prstGeom prst="roundRect">
            <a:avLst>
              <a:gd name="adj" fmla="val 1802"/>
            </a:avLst>
          </a:prstGeom>
          <a:solidFill>
            <a:srgbClr val="2B2B2B"/>
          </a:solidFill>
          <a:ln>
            <a:noFill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48640" y="1234440"/>
            <a:ext cx="73152" cy="5074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8201971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5307" y="1446345"/>
            <a:ext cx="8028628" cy="265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9948" y="4328652"/>
            <a:ext cx="4365523" cy="1551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7F61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9D7F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Turns Rows into Business Signals</a:t>
            </a:r>
            <a:endParaRPr sz="3600" b="1" i="0" u="none" strike="noStrike" cap="none">
              <a:solidFill>
                <a:srgbClr val="9D7F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548639" y="1234440"/>
            <a:ext cx="10679799" cy="5074920"/>
          </a:xfrm>
          <a:prstGeom prst="roundRect">
            <a:avLst>
              <a:gd name="adj" fmla="val 1802"/>
            </a:avLst>
          </a:prstGeom>
          <a:solidFill>
            <a:srgbClr val="2B2B2B"/>
          </a:solidFill>
          <a:ln>
            <a:noFill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48640" y="1234440"/>
            <a:ext cx="73152" cy="5074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 txBox="1"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7196" y="1537022"/>
            <a:ext cx="7462684" cy="248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2632" y="4328652"/>
            <a:ext cx="4306529" cy="1472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9D7F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Turns Rows into Business Signals</a:t>
            </a:r>
            <a:endParaRPr sz="3600" b="1" i="0" u="none" strike="noStrike" cap="none">
              <a:solidFill>
                <a:srgbClr val="9D7F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548639" y="1234440"/>
            <a:ext cx="10679799" cy="5074920"/>
          </a:xfrm>
          <a:prstGeom prst="roundRect">
            <a:avLst>
              <a:gd name="adj" fmla="val 1802"/>
            </a:avLst>
          </a:prstGeom>
          <a:solidFill>
            <a:srgbClr val="2B2B2B"/>
          </a:solidFill>
          <a:ln>
            <a:noFill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548640" y="1234440"/>
            <a:ext cx="73152" cy="5074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8241701" y="65079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3666" y="1619360"/>
            <a:ext cx="8341686" cy="2372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3135" y="4220496"/>
            <a:ext cx="4546406" cy="1639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4400"/>
              <a:buFont typeface="Times New Roman"/>
              <a:buNone/>
            </a:pPr>
            <a:r>
              <a:rPr lang="en-US" sz="4400" b="1" i="0" u="none" strike="noStrike" cap="none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the Analytical Engine</a:t>
            </a:r>
            <a:endParaRPr sz="4400" b="0" i="0" u="none" strike="noStrike" cap="none">
              <a:solidFill>
                <a:srgbClr val="A0B4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822960" y="14173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Query View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6263640" y="1234440"/>
            <a:ext cx="5376672" cy="5074920"/>
          </a:xfrm>
          <a:prstGeom prst="roundRect">
            <a:avLst>
              <a:gd name="adj" fmla="val 1802"/>
            </a:avLst>
          </a:prstGeom>
          <a:solidFill>
            <a:srgbClr val="FBFBFB"/>
          </a:solidFill>
          <a:ln>
            <a:noFill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EFA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6263640" y="1234440"/>
            <a:ext cx="73152" cy="5074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 txBox="1"/>
          <p:nvPr/>
        </p:nvSpPr>
        <p:spPr>
          <a:xfrm>
            <a:off x="6583680" y="146304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96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696D"/>
                </a:solidFill>
                <a:latin typeface="Arial"/>
                <a:ea typeface="Arial"/>
                <a:cs typeface="Arial"/>
                <a:sym typeface="Arial"/>
              </a:rPr>
              <a:t>Calendar Data Cleaning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6501384" y="2101384"/>
            <a:ext cx="5020056" cy="380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Removed the unnecessary merged </a:t>
            </a:r>
            <a:r>
              <a:rPr lang="en-US" sz="1800" b="0" i="0" u="none" strike="noStrike" cap="non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listings</a:t>
            </a: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column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Cleaned availability value by Replace Values (</a:t>
            </a:r>
            <a:r>
              <a:rPr lang="en-US" sz="1800" b="0" i="0" u="none" strike="noStrike" cap="non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t/f</a:t>
            </a: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→ True/False)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Converted prices to currency format by Replace Values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Corrected ID and date data types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Removed duplicate listing-date records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Add Conditional Column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223736" y="65151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7982712" y="65151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560" y="2270844"/>
            <a:ext cx="5197033" cy="276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4400"/>
              <a:buFont typeface="Times New Roman"/>
              <a:buNone/>
            </a:pPr>
            <a:r>
              <a:rPr lang="en-US" sz="4400" b="1" i="0" u="none" strike="noStrike" cap="none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the Analytical Engine</a:t>
            </a:r>
            <a:endParaRPr sz="4400" b="0" i="0" u="none" strike="noStrike" cap="none">
              <a:solidFill>
                <a:srgbClr val="A0B4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822960" y="14173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Query View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6263640" y="1234440"/>
            <a:ext cx="5376672" cy="5074920"/>
          </a:xfrm>
          <a:prstGeom prst="roundRect">
            <a:avLst>
              <a:gd name="adj" fmla="val 1802"/>
            </a:avLst>
          </a:prstGeom>
          <a:solidFill>
            <a:srgbClr val="FBFBFB"/>
          </a:solidFill>
          <a:ln>
            <a:noFill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EFA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6263640" y="1234440"/>
            <a:ext cx="73152" cy="5074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6583680" y="146304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96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696D"/>
                </a:solidFill>
                <a:latin typeface="Arial"/>
                <a:ea typeface="Arial"/>
                <a:cs typeface="Arial"/>
                <a:sym typeface="Arial"/>
              </a:rPr>
              <a:t>Listings Data Cleaning</a:t>
            </a:r>
            <a:endParaRPr sz="1600" b="0" i="0" u="none" strike="noStrike" cap="none">
              <a:solidFill>
                <a:srgbClr val="FF69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 txBox="1"/>
          <p:nvPr/>
        </p:nvSpPr>
        <p:spPr>
          <a:xfrm>
            <a:off x="223736" y="65151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3"/>
          <p:cNvSpPr txBox="1"/>
          <p:nvPr/>
        </p:nvSpPr>
        <p:spPr>
          <a:xfrm>
            <a:off x="7982712" y="65151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3"/>
          <p:cNvSpPr txBox="1"/>
          <p:nvPr/>
        </p:nvSpPr>
        <p:spPr>
          <a:xfrm>
            <a:off x="6530706" y="1989028"/>
            <a:ext cx="5020056" cy="4049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Kept only columns needed for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Removed URLs, long descriptions, and unused fields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Clean text columns by Trim/Clean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Cleaned price, percentage, date, and Boolean fields by Replace Values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Created a review-status field for listings with/without reviews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Handled missing values and removed duplicate listings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2363262"/>
            <a:ext cx="5021790" cy="266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4400"/>
              <a:buFont typeface="Times New Roman"/>
              <a:buNone/>
            </a:pPr>
            <a:r>
              <a:rPr lang="en-US" sz="4400" b="1" i="0" u="none" strike="noStrike" cap="none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the Analytical Engine</a:t>
            </a:r>
            <a:endParaRPr sz="4400" b="0" i="0" u="none" strike="noStrike" cap="none">
              <a:solidFill>
                <a:srgbClr val="A0B4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822960" y="14173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Query View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6263640" y="1234440"/>
            <a:ext cx="5376672" cy="5074920"/>
          </a:xfrm>
          <a:prstGeom prst="roundRect">
            <a:avLst>
              <a:gd name="adj" fmla="val 1802"/>
            </a:avLst>
          </a:prstGeom>
          <a:solidFill>
            <a:srgbClr val="FBFBFB"/>
          </a:solidFill>
          <a:ln>
            <a:noFill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EFA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263640" y="1234440"/>
            <a:ext cx="73152" cy="5074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 txBox="1"/>
          <p:nvPr/>
        </p:nvSpPr>
        <p:spPr>
          <a:xfrm>
            <a:off x="6583680" y="146304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96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696D"/>
                </a:solidFill>
                <a:latin typeface="Arial"/>
                <a:ea typeface="Arial"/>
                <a:cs typeface="Arial"/>
                <a:sym typeface="Arial"/>
              </a:rPr>
              <a:t>Reviews Data Cleaning</a:t>
            </a:r>
            <a:endParaRPr sz="1600" b="0" i="0" u="none" strike="noStrike" cap="none">
              <a:solidFill>
                <a:srgbClr val="FF69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 txBox="1"/>
          <p:nvPr/>
        </p:nvSpPr>
        <p:spPr>
          <a:xfrm>
            <a:off x="223736" y="65151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 txBox="1"/>
          <p:nvPr/>
        </p:nvSpPr>
        <p:spPr>
          <a:xfrm>
            <a:off x="7982712" y="65151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4"/>
          <p:cNvSpPr txBox="1"/>
          <p:nvPr/>
        </p:nvSpPr>
        <p:spPr>
          <a:xfrm>
            <a:off x="6530706" y="1875677"/>
            <a:ext cx="5020056" cy="301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Kept review ID, listing ID, date, reviewer, and comments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Corrected numeric and date data types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Clean reviewer_name &amp; comments by Clean/Trim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Cleaned text fields and removed duplicates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1937" y="2377342"/>
            <a:ext cx="5089775" cy="2703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4400"/>
              <a:buFont typeface="Times New Roman"/>
              <a:buNone/>
            </a:pPr>
            <a:r>
              <a:rPr lang="en-US" sz="4400" b="1" i="0" u="none" strike="noStrike" cap="none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the Analytical Engine</a:t>
            </a:r>
            <a:endParaRPr sz="4400" b="0" i="0" u="none" strike="noStrike" cap="none">
              <a:solidFill>
                <a:srgbClr val="A0B4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15"/>
          <p:cNvSpPr txBox="1"/>
          <p:nvPr/>
        </p:nvSpPr>
        <p:spPr>
          <a:xfrm>
            <a:off x="223736" y="65151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5"/>
          <p:cNvSpPr txBox="1"/>
          <p:nvPr/>
        </p:nvSpPr>
        <p:spPr>
          <a:xfrm>
            <a:off x="7982712" y="65151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548639" y="1234440"/>
            <a:ext cx="10673819" cy="5074920"/>
          </a:xfrm>
          <a:prstGeom prst="roundRect">
            <a:avLst>
              <a:gd name="adj" fmla="val 1802"/>
            </a:avLst>
          </a:prstGeom>
          <a:solidFill>
            <a:srgbClr val="FBFBFB"/>
          </a:solidFill>
          <a:ln>
            <a:noFill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EFA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544680" y="1236099"/>
            <a:ext cx="73152" cy="5074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5"/>
          <p:cNvSpPr txBox="1"/>
          <p:nvPr/>
        </p:nvSpPr>
        <p:spPr>
          <a:xfrm>
            <a:off x="868680" y="144645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96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696D"/>
                </a:solidFill>
                <a:latin typeface="Arial"/>
                <a:ea typeface="Arial"/>
                <a:cs typeface="Arial"/>
                <a:sym typeface="Arial"/>
              </a:rPr>
              <a:t>DAX MEASURES - Creating the Date table</a:t>
            </a:r>
            <a:endParaRPr sz="1600" b="0" i="0" u="none" strike="noStrike" cap="none">
              <a:solidFill>
                <a:srgbClr val="FF69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5"/>
          <p:cNvSpPr txBox="1"/>
          <p:nvPr/>
        </p:nvSpPr>
        <p:spPr>
          <a:xfrm>
            <a:off x="868680" y="1983952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Dim Date 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15"/>
          <p:cNvSpPr txBox="1"/>
          <p:nvPr/>
        </p:nvSpPr>
        <p:spPr>
          <a:xfrm>
            <a:off x="969542" y="1983952"/>
            <a:ext cx="8275320" cy="3877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 ADDCOLUMNS (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CALENDAR (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MIN ( 'Fact Reviews'[date] 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MAX ( 'Fact Calendar'[date] 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"Year", YEAR ( [Date] 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"Month Number", MONTH ( [Date] 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"Month", FORMAT ( [Date], "MMMM" 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"Quarter", "Q" &amp; FORMAT ( [Date], "Q" 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"Year-Month", FORMAT ( [Date], "YYYY-MM" 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9" name="Google Shape;39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"/>
          <p:cNvSpPr txBox="1"/>
          <p:nvPr/>
        </p:nvSpPr>
        <p:spPr>
          <a:xfrm>
            <a:off x="548640" y="365760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4400"/>
              <a:buFont typeface="Times New Roman"/>
              <a:buNone/>
            </a:pPr>
            <a:r>
              <a:rPr lang="en-US" sz="4400" b="1" i="0" u="none" strike="noStrike" cap="none" dirty="0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the Analytical Engine</a:t>
            </a:r>
            <a:endParaRPr sz="4400" b="0" i="0" u="none" strike="noStrike" cap="none" dirty="0">
              <a:solidFill>
                <a:srgbClr val="A0B4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548640" y="1234440"/>
            <a:ext cx="5394900" cy="50748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6"/>
          <p:cNvSpPr txBox="1"/>
          <p:nvPr/>
        </p:nvSpPr>
        <p:spPr>
          <a:xfrm>
            <a:off x="822960" y="1417320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MODEL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6"/>
          <p:cNvSpPr txBox="1"/>
          <p:nvPr/>
        </p:nvSpPr>
        <p:spPr>
          <a:xfrm>
            <a:off x="822960" y="1691640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848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Star Schema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6"/>
          <p:cNvCxnSpPr/>
          <p:nvPr/>
        </p:nvCxnSpPr>
        <p:spPr>
          <a:xfrm flipH="1">
            <a:off x="1748165" y="2523570"/>
            <a:ext cx="402900" cy="5670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0" name="Google Shape;410;p16"/>
          <p:cNvSpPr/>
          <p:nvPr/>
        </p:nvSpPr>
        <p:spPr>
          <a:xfrm>
            <a:off x="705622" y="3136392"/>
            <a:ext cx="1523100" cy="585300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 w="12700" cap="flat" cmpd="sng">
            <a:solidFill>
              <a:srgbClr val="E2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16"/>
          <p:cNvCxnSpPr/>
          <p:nvPr/>
        </p:nvCxnSpPr>
        <p:spPr>
          <a:xfrm>
            <a:off x="3933244" y="2508465"/>
            <a:ext cx="402900" cy="5670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2" name="Google Shape;412;p16"/>
          <p:cNvCxnSpPr/>
          <p:nvPr/>
        </p:nvCxnSpPr>
        <p:spPr>
          <a:xfrm>
            <a:off x="1748265" y="3867738"/>
            <a:ext cx="402900" cy="6327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" name="Google Shape;413;p16"/>
          <p:cNvCxnSpPr/>
          <p:nvPr/>
        </p:nvCxnSpPr>
        <p:spPr>
          <a:xfrm rot="10800000" flipH="1">
            <a:off x="3958063" y="3940194"/>
            <a:ext cx="378000" cy="5601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4" name="Google Shape;414;p16"/>
          <p:cNvSpPr/>
          <p:nvPr/>
        </p:nvSpPr>
        <p:spPr>
          <a:xfrm>
            <a:off x="1896655" y="4648161"/>
            <a:ext cx="2310300" cy="658500"/>
          </a:xfrm>
          <a:prstGeom prst="roundRect">
            <a:avLst>
              <a:gd name="adj" fmla="val 10667"/>
            </a:avLst>
          </a:prstGeom>
          <a:solidFill>
            <a:srgbClr val="FF696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4848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Dim Listing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(ID)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6263640" y="1234440"/>
            <a:ext cx="5376600" cy="5074800"/>
          </a:xfrm>
          <a:prstGeom prst="roundRect">
            <a:avLst>
              <a:gd name="adj" fmla="val 1802"/>
            </a:avLst>
          </a:prstGeom>
          <a:solidFill>
            <a:srgbClr val="FBFBFB"/>
          </a:solidFill>
          <a:ln>
            <a:noFill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EFA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6263640" y="1234440"/>
            <a:ext cx="73200" cy="50748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6"/>
          <p:cNvSpPr txBox="1"/>
          <p:nvPr/>
        </p:nvSpPr>
        <p:spPr>
          <a:xfrm>
            <a:off x="6583680" y="1463040"/>
            <a:ext cx="473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96D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696D"/>
                </a:solidFill>
                <a:latin typeface="Arial"/>
                <a:ea typeface="Arial"/>
                <a:cs typeface="Arial"/>
                <a:sym typeface="Arial"/>
              </a:rPr>
              <a:t>DAX MEASURES (11 measures)</a:t>
            </a:r>
            <a:endParaRPr sz="1600" b="0" i="0" u="none" strike="noStrike" cap="none" dirty="0">
              <a:solidFill>
                <a:srgbClr val="FF69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"/>
          <p:cNvSpPr txBox="1"/>
          <p:nvPr/>
        </p:nvSpPr>
        <p:spPr>
          <a:xfrm>
            <a:off x="6583680" y="1920240"/>
            <a:ext cx="473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Availability Rate 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9" name="Google Shape;419;p16"/>
          <p:cNvSpPr txBox="1"/>
          <p:nvPr/>
        </p:nvSpPr>
        <p:spPr>
          <a:xfrm>
            <a:off x="6583680" y="2313881"/>
            <a:ext cx="49377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DIVIDE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n-US" sz="1400" b="0" i="0" u="none" strike="noStrike" cap="none">
                <a:solidFill>
                  <a:srgbClr val="68349C"/>
                </a:solidFill>
                <a:latin typeface="Consolas"/>
                <a:ea typeface="Consolas"/>
                <a:cs typeface="Consolas"/>
                <a:sym typeface="Consolas"/>
              </a:rPr>
              <a:t>[Available Days]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68349C"/>
                </a:solidFill>
                <a:latin typeface="Consolas"/>
                <a:ea typeface="Consolas"/>
                <a:cs typeface="Consolas"/>
                <a:sym typeface="Consolas"/>
              </a:rPr>
              <a:t>[Available Days]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 b="0" i="0" u="none" strike="noStrike" cap="none">
                <a:solidFill>
                  <a:srgbClr val="68349C"/>
                </a:solidFill>
                <a:latin typeface="Consolas"/>
                <a:ea typeface="Consolas"/>
                <a:cs typeface="Consolas"/>
                <a:sym typeface="Consolas"/>
              </a:rPr>
              <a:t>[Unavailable Days]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6583680" y="2962548"/>
            <a:ext cx="473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Available Days 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1" name="Google Shape;421;p16"/>
          <p:cNvSpPr txBox="1"/>
          <p:nvPr/>
        </p:nvSpPr>
        <p:spPr>
          <a:xfrm>
            <a:off x="6583680" y="3442608"/>
            <a:ext cx="47367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65BB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= CALCULATE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COUNTROWS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n-US" sz="1400" b="0" i="0" u="none" strike="noStrike" cap="non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'Fact Calendar'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'Fact Calendar'[available]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())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6"/>
          <p:cNvSpPr txBox="1"/>
          <p:nvPr/>
        </p:nvSpPr>
        <p:spPr>
          <a:xfrm>
            <a:off x="6583679" y="4229915"/>
            <a:ext cx="473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Average Available Nightly Price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6"/>
          <p:cNvSpPr txBox="1"/>
          <p:nvPr/>
        </p:nvSpPr>
        <p:spPr>
          <a:xfrm>
            <a:off x="6583679" y="4624664"/>
            <a:ext cx="4736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65BB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= CALCULATE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AVERAGE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n-US" sz="1400" b="0" i="0" u="none" strike="noStrike" cap="non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'Fact Calendar'[price]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'Fact Calendar'[available]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())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6"/>
          <p:cNvSpPr txBox="1"/>
          <p:nvPr/>
        </p:nvSpPr>
        <p:spPr>
          <a:xfrm>
            <a:off x="6583679" y="5417617"/>
            <a:ext cx="473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Average Listing Price 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5" name="Google Shape;425;p16"/>
          <p:cNvSpPr txBox="1"/>
          <p:nvPr/>
        </p:nvSpPr>
        <p:spPr>
          <a:xfrm>
            <a:off x="6583679" y="5623357"/>
            <a:ext cx="47367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AVERAGE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n-US" sz="1400" b="0" i="0" u="none" strike="noStrike" cap="non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'Dim Listing'[price]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6"/>
          <p:cNvSpPr txBox="1"/>
          <p:nvPr/>
        </p:nvSpPr>
        <p:spPr>
          <a:xfrm>
            <a:off x="223736" y="651510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6"/>
          <p:cNvSpPr txBox="1"/>
          <p:nvPr/>
        </p:nvSpPr>
        <p:spPr>
          <a:xfrm>
            <a:off x="7982712" y="65151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6"/>
          <p:cNvSpPr txBox="1"/>
          <p:nvPr/>
        </p:nvSpPr>
        <p:spPr>
          <a:xfrm>
            <a:off x="960120" y="3282522"/>
            <a:ext cx="97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84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84848"/>
                </a:solidFill>
                <a:latin typeface="Calibri"/>
                <a:ea typeface="Calibri"/>
                <a:cs typeface="Calibri"/>
                <a:sym typeface="Calibri"/>
              </a:rPr>
              <a:t>Fact Calendar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84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84848"/>
                </a:solidFill>
                <a:latin typeface="Calibri"/>
                <a:ea typeface="Calibri"/>
                <a:cs typeface="Calibri"/>
                <a:sym typeface="Calibri"/>
              </a:rPr>
              <a:t>(listing_id)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3958063" y="3136392"/>
            <a:ext cx="1559400" cy="585300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 w="12700" cap="flat" cmpd="sng">
            <a:solidFill>
              <a:srgbClr val="E2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2269706" y="2098173"/>
            <a:ext cx="1548000" cy="547800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 w="12700" cap="flat" cmpd="sng">
            <a:solidFill>
              <a:srgbClr val="E2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6"/>
          <p:cNvSpPr txBox="1"/>
          <p:nvPr/>
        </p:nvSpPr>
        <p:spPr>
          <a:xfrm>
            <a:off x="2632973" y="2178791"/>
            <a:ext cx="8376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84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84848"/>
                </a:solidFill>
                <a:latin typeface="Calibri"/>
                <a:ea typeface="Calibri"/>
                <a:cs typeface="Calibri"/>
                <a:sym typeface="Calibri"/>
              </a:rPr>
              <a:t>Dim Date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84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84848"/>
                </a:solidFill>
                <a:latin typeface="Calibri"/>
                <a:ea typeface="Calibri"/>
                <a:cs typeface="Calibri"/>
                <a:sym typeface="Calibri"/>
              </a:rPr>
              <a:t>(date)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6"/>
          <p:cNvSpPr txBox="1"/>
          <p:nvPr/>
        </p:nvSpPr>
        <p:spPr>
          <a:xfrm>
            <a:off x="4336043" y="3281133"/>
            <a:ext cx="837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84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84848"/>
                </a:solidFill>
                <a:latin typeface="Calibri"/>
                <a:ea typeface="Calibri"/>
                <a:cs typeface="Calibri"/>
                <a:sym typeface="Calibri"/>
              </a:rPr>
              <a:t>Fact Review</a:t>
            </a: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84848"/>
                </a:solidFill>
                <a:latin typeface="Calibri"/>
                <a:ea typeface="Calibri"/>
                <a:cs typeface="Calibri"/>
                <a:sym typeface="Calibri"/>
              </a:rPr>
              <a:t>(listing_id)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848"/>
              </a:buClr>
              <a:buSzPts val="1200"/>
              <a:buFont typeface="Calibri"/>
              <a:buNone/>
            </a:pPr>
            <a:endParaRPr sz="1200" b="1" i="0" u="none" strike="noStrike" cap="none">
              <a:solidFill>
                <a:srgbClr val="4848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2459" y="327318"/>
            <a:ext cx="656605" cy="54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7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4400"/>
              <a:buFont typeface="Times New Roman"/>
              <a:buNone/>
            </a:pPr>
            <a:r>
              <a:rPr lang="en-US" sz="4400" b="1" i="0" u="none" strike="noStrike" cap="none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the Analytical Engine</a:t>
            </a:r>
            <a:endParaRPr sz="4400" b="0" i="0" u="none" strike="noStrike" cap="none">
              <a:solidFill>
                <a:srgbClr val="A0B4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6263640" y="1234440"/>
            <a:ext cx="5376672" cy="5074920"/>
          </a:xfrm>
          <a:prstGeom prst="roundRect">
            <a:avLst>
              <a:gd name="adj" fmla="val 1802"/>
            </a:avLst>
          </a:prstGeom>
          <a:solidFill>
            <a:srgbClr val="FBFBFB"/>
          </a:solidFill>
          <a:ln>
            <a:noFill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EFA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6263640" y="1234440"/>
            <a:ext cx="73152" cy="5074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7"/>
          <p:cNvSpPr txBox="1"/>
          <p:nvPr/>
        </p:nvSpPr>
        <p:spPr>
          <a:xfrm>
            <a:off x="6583680" y="146304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96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696D"/>
                </a:solidFill>
                <a:latin typeface="Arial"/>
                <a:ea typeface="Arial"/>
                <a:cs typeface="Arial"/>
                <a:sym typeface="Arial"/>
              </a:rPr>
              <a:t>DAX MEASURES</a:t>
            </a:r>
            <a:endParaRPr sz="1600" b="0" i="0" u="none" strike="noStrike" cap="none">
              <a:solidFill>
                <a:srgbClr val="FF69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7"/>
          <p:cNvSpPr txBox="1"/>
          <p:nvPr/>
        </p:nvSpPr>
        <p:spPr>
          <a:xfrm>
            <a:off x="6583680" y="192024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Average Rating 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4" name="Google Shape;444;p17"/>
          <p:cNvSpPr txBox="1"/>
          <p:nvPr/>
        </p:nvSpPr>
        <p:spPr>
          <a:xfrm>
            <a:off x="6583680" y="2199014"/>
            <a:ext cx="4937760" cy="32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AVERAGE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n-US" sz="1400" b="0" i="0" u="none" strike="noStrike" cap="non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'Dim Listing'[review_scores_rating]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7"/>
          <p:cNvSpPr txBox="1"/>
          <p:nvPr/>
        </p:nvSpPr>
        <p:spPr>
          <a:xfrm>
            <a:off x="6540681" y="2845631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Reviews per Listing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6" name="Google Shape;446;p17"/>
          <p:cNvSpPr txBox="1"/>
          <p:nvPr/>
        </p:nvSpPr>
        <p:spPr>
          <a:xfrm>
            <a:off x="6583680" y="3093200"/>
            <a:ext cx="4736592" cy="40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65BB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= DIVIDE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n-US" sz="1400" b="0" i="0" u="none" strike="noStrike" cap="none">
                <a:solidFill>
                  <a:srgbClr val="68349C"/>
                </a:solidFill>
                <a:latin typeface="Consolas"/>
                <a:ea typeface="Consolas"/>
                <a:cs typeface="Consolas"/>
                <a:sym typeface="Consolas"/>
              </a:rPr>
              <a:t>[Total Reviews]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68349C"/>
                </a:solidFill>
                <a:latin typeface="Consolas"/>
                <a:ea typeface="Consolas"/>
                <a:cs typeface="Consolas"/>
                <a:sym typeface="Consolas"/>
              </a:rPr>
              <a:t>[Total Listings]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7"/>
          <p:cNvSpPr txBox="1"/>
          <p:nvPr/>
        </p:nvSpPr>
        <p:spPr>
          <a:xfrm>
            <a:off x="6583680" y="3753701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Superhost Listings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7"/>
          <p:cNvSpPr txBox="1"/>
          <p:nvPr/>
        </p:nvSpPr>
        <p:spPr>
          <a:xfrm>
            <a:off x="6620256" y="4192285"/>
            <a:ext cx="473659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65BB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= CALCULATE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68349C"/>
                </a:solidFill>
                <a:latin typeface="Consolas"/>
                <a:ea typeface="Consolas"/>
                <a:cs typeface="Consolas"/>
                <a:sym typeface="Consolas"/>
              </a:rPr>
              <a:t>[Total Listings]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'Dim Listing'[host_is_superhost]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())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17"/>
          <p:cNvSpPr txBox="1"/>
          <p:nvPr/>
        </p:nvSpPr>
        <p:spPr>
          <a:xfrm>
            <a:off x="6583679" y="5085203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Superhost Rate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17"/>
          <p:cNvSpPr txBox="1"/>
          <p:nvPr/>
        </p:nvSpPr>
        <p:spPr>
          <a:xfrm>
            <a:off x="6583680" y="5222363"/>
            <a:ext cx="4937760" cy="683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65BB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DIVIDE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n-US" sz="1400" b="0" i="0" u="none" strike="noStrike" cap="none">
                <a:solidFill>
                  <a:srgbClr val="68349C"/>
                </a:solidFill>
                <a:latin typeface="Consolas"/>
                <a:ea typeface="Consolas"/>
                <a:cs typeface="Consolas"/>
                <a:sym typeface="Consolas"/>
              </a:rPr>
              <a:t>[Superhost Listings]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68349C"/>
                </a:solidFill>
                <a:latin typeface="Consolas"/>
                <a:ea typeface="Consolas"/>
                <a:cs typeface="Consolas"/>
                <a:sym typeface="Consolas"/>
              </a:rPr>
              <a:t>[Total Listings]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7"/>
          <p:cNvSpPr txBox="1"/>
          <p:nvPr/>
        </p:nvSpPr>
        <p:spPr>
          <a:xfrm>
            <a:off x="223736" y="65151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DATA DIVAS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7"/>
          <p:cNvSpPr txBox="1"/>
          <p:nvPr/>
        </p:nvSpPr>
        <p:spPr>
          <a:xfrm>
            <a:off x="7982712" y="65151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A0B4A7"/>
                </a:solidFill>
                <a:latin typeface="Arial"/>
                <a:ea typeface="Arial"/>
                <a:cs typeface="Arial"/>
                <a:sym typeface="Arial"/>
              </a:rPr>
              <a:t>Airbnb Business Data Analysis</a:t>
            </a:r>
            <a:endParaRPr sz="900" b="0" i="0" u="none" strike="noStrike" cap="none">
              <a:solidFill>
                <a:srgbClr val="A0B4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548640" y="1234440"/>
            <a:ext cx="5376672" cy="5074920"/>
          </a:xfrm>
          <a:prstGeom prst="roundRect">
            <a:avLst>
              <a:gd name="adj" fmla="val 1802"/>
            </a:avLst>
          </a:prstGeom>
          <a:solidFill>
            <a:srgbClr val="FBFBFB"/>
          </a:solidFill>
          <a:ln>
            <a:noFill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EFA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538955" y="1236099"/>
            <a:ext cx="73152" cy="5074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7"/>
          <p:cNvSpPr txBox="1"/>
          <p:nvPr/>
        </p:nvSpPr>
        <p:spPr>
          <a:xfrm>
            <a:off x="868680" y="144645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96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696D"/>
                </a:solidFill>
                <a:latin typeface="Arial"/>
                <a:ea typeface="Arial"/>
                <a:cs typeface="Arial"/>
                <a:sym typeface="Arial"/>
              </a:rPr>
              <a:t>DAX MEASURES</a:t>
            </a:r>
            <a:endParaRPr sz="1600" b="0" i="0" u="none" strike="noStrike" cap="none">
              <a:solidFill>
                <a:srgbClr val="FF69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7"/>
          <p:cNvSpPr txBox="1"/>
          <p:nvPr/>
        </p:nvSpPr>
        <p:spPr>
          <a:xfrm>
            <a:off x="868680" y="1983952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Total Listings 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17"/>
          <p:cNvSpPr txBox="1"/>
          <p:nvPr/>
        </p:nvSpPr>
        <p:spPr>
          <a:xfrm>
            <a:off x="868680" y="2257097"/>
            <a:ext cx="4937760" cy="32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DISTINCTCOUNT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n-US" sz="1400" b="0" i="0" u="none" strike="noStrike" cap="non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'Dim Listing'[id]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844624" y="2814226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Total Reviews 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9" name="Google Shape;459;p17"/>
          <p:cNvSpPr txBox="1"/>
          <p:nvPr/>
        </p:nvSpPr>
        <p:spPr>
          <a:xfrm>
            <a:off x="844624" y="3584448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8A8E"/>
                </a:solidFill>
                <a:latin typeface="Consolas"/>
                <a:ea typeface="Consolas"/>
                <a:cs typeface="Consolas"/>
                <a:sym typeface="Consolas"/>
              </a:rPr>
              <a:t>Unavailable Days 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844624" y="3088546"/>
            <a:ext cx="4937760" cy="32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COUNTROWS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n-US" sz="1400" b="0" i="0" u="none" strike="noStrike" cap="non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'Fact Reviews'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7"/>
          <p:cNvSpPr txBox="1"/>
          <p:nvPr/>
        </p:nvSpPr>
        <p:spPr>
          <a:xfrm>
            <a:off x="868680" y="3825361"/>
            <a:ext cx="4937760" cy="1111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CALCULATE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COUNTROWS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n-US" sz="1400" b="0" i="0" u="none" strike="noStrike" cap="non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'Fact Calendar'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 b="0" i="0" u="none" strike="noStrike" cap="non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'Fact Calendar'[available]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 b="0" i="0" u="none" strike="noStrike" cap="none">
                <a:solidFill>
                  <a:srgbClr val="3165B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())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2E5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B4A7"/>
              </a:buClr>
              <a:buSzPts val="4400"/>
              <a:buFont typeface="Times New Roman"/>
              <a:buNone/>
            </a:pPr>
            <a:r>
              <a:rPr lang="en-US" sz="4400" b="1" i="0" u="none" strike="noStrike" cap="none">
                <a:solidFill>
                  <a:srgbClr val="A0B4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Turning Insights into Action</a:t>
            </a:r>
            <a:endParaRPr sz="4400" b="1" i="0" u="none" strike="noStrike" cap="none">
              <a:solidFill>
                <a:srgbClr val="A0B4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548672" y="1417327"/>
            <a:ext cx="10972800" cy="3864900"/>
          </a:xfrm>
          <a:prstGeom prst="roundRect">
            <a:avLst>
              <a:gd name="adj" fmla="val 4000"/>
            </a:avLst>
          </a:prstGeom>
          <a:solidFill>
            <a:srgbClr val="FEFAF4"/>
          </a:solidFill>
          <a:ln w="127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3A3A3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0"/>
          <p:cNvSpPr txBox="1"/>
          <p:nvPr/>
        </p:nvSpPr>
        <p:spPr>
          <a:xfrm>
            <a:off x="3044503" y="2334114"/>
            <a:ext cx="598107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848"/>
              </a:buClr>
              <a:buSzPts val="1600"/>
              <a:buFont typeface="Arial"/>
              <a:buNone/>
            </a:pPr>
            <a:r>
              <a:rPr lang="en-US" sz="6600" b="1" dirty="0">
                <a:solidFill>
                  <a:srgbClr val="FF69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sz="6600" b="0" i="0" u="none" strike="noStrike" cap="none" dirty="0">
              <a:solidFill>
                <a:srgbClr val="FF696D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82" name="Google Shape;482;p20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0"/>
          <p:cNvSpPr txBox="1"/>
          <p:nvPr/>
        </p:nvSpPr>
        <p:spPr>
          <a:xfrm>
            <a:off x="548640" y="569671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 →  Insights  →  Decisions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 txBox="1"/>
          <p:nvPr/>
        </p:nvSpPr>
        <p:spPr>
          <a:xfrm>
            <a:off x="7982712" y="560527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Divs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0"/>
          <p:cNvSpPr txBox="1"/>
          <p:nvPr/>
        </p:nvSpPr>
        <p:spPr>
          <a:xfrm>
            <a:off x="7982712" y="595274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3E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FFE3E4"/>
                </a:solidFill>
                <a:latin typeface="Calibri"/>
                <a:ea typeface="Calibri"/>
                <a:cs typeface="Calibri"/>
                <a:sym typeface="Calibri"/>
              </a:rPr>
              <a:t>SQL  •  Power BI  •  Business Analytics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6" name="Google Shape;48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2459" y="327318"/>
            <a:ext cx="656606" cy="54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Widescreen</PresentationFormat>
  <Paragraphs>184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Courier New</vt:lpstr>
      <vt:lpstr>Noto Sans Symbols</vt:lpstr>
      <vt:lpstr>Times New Roman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ايه الله ايمن  محمد ابوالعزم فارس</cp:lastModifiedBy>
  <cp:revision>1</cp:revision>
  <dcterms:created xsi:type="dcterms:W3CDTF">2026-09-05T13:04:56Z</dcterms:created>
  <dcterms:modified xsi:type="dcterms:W3CDTF">2026-09-11T16:27:43Z</dcterms:modified>
</cp:coreProperties>
</file>